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A16B"/>
    <a:srgbClr val="2FD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996" y="-96"/>
      </p:cViewPr>
      <p:guideLst>
        <p:guide orient="horz" pos="2160"/>
        <p:guide orient="horz" pos="346"/>
        <p:guide orient="horz" pos="3974"/>
        <p:guide pos="2880"/>
        <p:guide pos="158"/>
        <p:guide pos="56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011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20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0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33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9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69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802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07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690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18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649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89586-710B-43E8-9079-5310C8A19229}" type="datetimeFigureOut">
              <a:rPr lang="ru-RU" smtClean="0"/>
              <a:t>05.11.2025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D0B51-B5DA-4D8A-89A1-C3E33BD9C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57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3" y="2736502"/>
            <a:ext cx="38667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600" dirty="0" err="1" smtClean="0">
                <a:latin typeface="Bahnschrift SemiBold Condensed" pitchFamily="34" charset="0"/>
              </a:rPr>
              <a:t>EcoTrack</a:t>
            </a:r>
            <a:endParaRPr lang="ru-RU" dirty="0" smtClean="0">
              <a:latin typeface="Bahnschrift SemiBold Condensed" pitchFamily="34" charset="0"/>
            </a:endParaRPr>
          </a:p>
          <a:p>
            <a:r>
              <a:rPr lang="ru-RU" dirty="0" smtClean="0">
                <a:latin typeface="Bahnschrift SemiBold Condensed" pitchFamily="34" charset="0"/>
              </a:rPr>
              <a:t>Экологический </a:t>
            </a:r>
            <a:r>
              <a:rPr lang="ru-RU" dirty="0">
                <a:latin typeface="Bahnschrift SemiBold Condensed" pitchFamily="34" charset="0"/>
              </a:rPr>
              <a:t>мониторинг личного транспорта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31921" y="5112708"/>
            <a:ext cx="1851725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 smtClean="0"/>
              <a:t>Состав команды:</a:t>
            </a:r>
            <a:br>
              <a:rPr lang="ru-RU" dirty="0" smtClean="0"/>
            </a:br>
            <a:r>
              <a:rPr lang="ru-RU" dirty="0" err="1" smtClean="0"/>
              <a:t>Дуденков</a:t>
            </a:r>
            <a:endParaRPr lang="ru-RU" dirty="0" smtClean="0"/>
          </a:p>
          <a:p>
            <a:r>
              <a:rPr lang="ru-RU" dirty="0" smtClean="0"/>
              <a:t>Быков</a:t>
            </a:r>
          </a:p>
          <a:p>
            <a:r>
              <a:rPr lang="ru-RU" dirty="0" err="1" smtClean="0"/>
              <a:t>Сезёмин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230903" y="54927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2025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611560" y="3717032"/>
            <a:ext cx="432117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92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825" y="549275"/>
            <a:ext cx="37408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/>
              <a:t>Анализ конкурентов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250825" y="1268760"/>
            <a:ext cx="43211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 smtClean="0"/>
              <a:t>Конкурент 1: </a:t>
            </a:r>
            <a:r>
              <a:rPr lang="en-US" dirty="0" smtClean="0"/>
              <a:t>“</a:t>
            </a:r>
            <a:r>
              <a:rPr lang="en-US" b="1" dirty="0" smtClean="0"/>
              <a:t>CO2 Counter</a:t>
            </a:r>
            <a:r>
              <a:rPr lang="en-US" dirty="0" smtClean="0"/>
              <a:t>”</a:t>
            </a:r>
            <a:endParaRPr lang="ru-RU" dirty="0" smtClean="0"/>
          </a:p>
          <a:p>
            <a:pPr>
              <a:spcAft>
                <a:spcPts val="600"/>
              </a:spcAft>
            </a:pPr>
            <a:r>
              <a:rPr lang="ru-RU" b="1" dirty="0" smtClean="0"/>
              <a:t>Плюсы</a:t>
            </a:r>
            <a:r>
              <a:rPr lang="ru-RU" dirty="0" smtClean="0"/>
              <a:t>: Простой интерфейс, базовый расчет выбросов</a:t>
            </a:r>
          </a:p>
          <a:p>
            <a:r>
              <a:rPr lang="ru-RU" b="1" dirty="0" smtClean="0"/>
              <a:t>Минусы</a:t>
            </a:r>
            <a:r>
              <a:rPr lang="ru-RU" dirty="0" smtClean="0"/>
              <a:t>: Ручной ввод данных, отсутствие автоматического отслеживания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50825" y="3429000"/>
            <a:ext cx="432117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 smtClean="0"/>
              <a:t>Конкурент </a:t>
            </a:r>
            <a:r>
              <a:rPr lang="en-US" dirty="0" smtClean="0"/>
              <a:t>2</a:t>
            </a:r>
            <a:r>
              <a:rPr lang="ru-RU" dirty="0" smtClean="0"/>
              <a:t>: </a:t>
            </a:r>
            <a:r>
              <a:rPr lang="en-US" dirty="0" smtClean="0"/>
              <a:t>“</a:t>
            </a:r>
            <a:r>
              <a:rPr lang="en-US" b="1" dirty="0" smtClean="0"/>
              <a:t>Green Move</a:t>
            </a:r>
            <a:r>
              <a:rPr lang="en-US" dirty="0" smtClean="0"/>
              <a:t>”</a:t>
            </a:r>
            <a:endParaRPr lang="ru-RU" dirty="0" smtClean="0"/>
          </a:p>
          <a:p>
            <a:pPr>
              <a:spcAft>
                <a:spcPts val="600"/>
              </a:spcAft>
            </a:pPr>
            <a:r>
              <a:rPr lang="ru-RU" b="1" dirty="0" smtClean="0"/>
              <a:t>Плюсы</a:t>
            </a:r>
            <a:r>
              <a:rPr lang="ru-RU" dirty="0" smtClean="0"/>
              <a:t>: Интеграция с календарем</a:t>
            </a:r>
            <a:endParaRPr lang="en-US" dirty="0" smtClean="0"/>
          </a:p>
          <a:p>
            <a:pPr>
              <a:spcAft>
                <a:spcPts val="600"/>
              </a:spcAft>
            </a:pPr>
            <a:r>
              <a:rPr lang="ru-RU" b="1" dirty="0" smtClean="0"/>
              <a:t>Минусы</a:t>
            </a:r>
            <a:r>
              <a:rPr lang="ru-RU" dirty="0" smtClean="0"/>
              <a:t>: Отсутствие персональной статистики и мотивационных элементов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4572000" y="544962"/>
            <a:ext cx="4321175" cy="380104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Преимущества </a:t>
            </a:r>
            <a:r>
              <a:rPr lang="en-US" b="1" dirty="0" err="1" smtClean="0"/>
              <a:t>EcoTrack</a:t>
            </a:r>
            <a:endParaRPr lang="en-US" b="1" dirty="0" smtClean="0"/>
          </a:p>
          <a:p>
            <a:pPr>
              <a:spcAft>
                <a:spcPts val="600"/>
              </a:spcAft>
            </a:pPr>
            <a:r>
              <a:rPr lang="ru-RU" b="1" dirty="0" smtClean="0"/>
              <a:t>Автоматическое отслеживание</a:t>
            </a:r>
            <a:r>
              <a:rPr lang="ru-RU" dirty="0" smtClean="0"/>
              <a:t> перемещений через GPS (без ручного ввода)</a:t>
            </a:r>
          </a:p>
          <a:p>
            <a:pPr>
              <a:spcAft>
                <a:spcPts val="600"/>
              </a:spcAft>
            </a:pPr>
            <a:r>
              <a:rPr lang="ru-RU" b="1" dirty="0" smtClean="0"/>
              <a:t>Персонализированные</a:t>
            </a:r>
            <a:r>
              <a:rPr lang="ru-RU" dirty="0" smtClean="0"/>
              <a:t> рекомендации по снижению углеродного следа</a:t>
            </a:r>
          </a:p>
          <a:p>
            <a:pPr>
              <a:spcAft>
                <a:spcPts val="600"/>
              </a:spcAft>
            </a:pPr>
            <a:r>
              <a:rPr lang="ru-RU" b="1" dirty="0" err="1" smtClean="0"/>
              <a:t>Геймификация</a:t>
            </a:r>
            <a:r>
              <a:rPr lang="ru-RU" dirty="0" smtClean="0"/>
              <a:t>: достижения, рейтинги, возможность соревноваться с друзьями</a:t>
            </a:r>
          </a:p>
          <a:p>
            <a:pPr>
              <a:spcAft>
                <a:spcPts val="600"/>
              </a:spcAft>
            </a:pPr>
            <a:r>
              <a:rPr lang="ru-RU" b="1" dirty="0" smtClean="0"/>
              <a:t>Интеграция</a:t>
            </a:r>
            <a:r>
              <a:rPr lang="ru-RU" dirty="0" smtClean="0"/>
              <a:t> с социальными сетями для распространения экологической культуры</a:t>
            </a:r>
          </a:p>
          <a:p>
            <a:pPr>
              <a:spcAft>
                <a:spcPts val="600"/>
              </a:spcAft>
            </a:pPr>
            <a:r>
              <a:rPr lang="ru-RU" b="1" dirty="0" smtClean="0"/>
              <a:t>Информирование</a:t>
            </a:r>
            <a:r>
              <a:rPr lang="ru-RU" dirty="0" smtClean="0"/>
              <a:t> о ближайших экологических мероприятиях в городе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357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пля 6"/>
          <p:cNvSpPr/>
          <p:nvPr/>
        </p:nvSpPr>
        <p:spPr>
          <a:xfrm>
            <a:off x="3059832" y="2276872"/>
            <a:ext cx="2262730" cy="2076262"/>
          </a:xfrm>
          <a:custGeom>
            <a:avLst/>
            <a:gdLst>
              <a:gd name="connsiteX0" fmla="*/ 0 w 1152128"/>
              <a:gd name="connsiteY0" fmla="*/ 539762 h 1079524"/>
              <a:gd name="connsiteX1" fmla="*/ 576064 w 1152128"/>
              <a:gd name="connsiteY1" fmla="*/ 0 h 1079524"/>
              <a:gd name="connsiteX2" fmla="*/ 1369022 w 1152128"/>
              <a:gd name="connsiteY2" fmla="*/ -203226 h 1079524"/>
              <a:gd name="connsiteX3" fmla="*/ 1152128 w 1152128"/>
              <a:gd name="connsiteY3" fmla="*/ 539762 h 1079524"/>
              <a:gd name="connsiteX4" fmla="*/ 576064 w 1152128"/>
              <a:gd name="connsiteY4" fmla="*/ 1079524 h 1079524"/>
              <a:gd name="connsiteX5" fmla="*/ 0 w 1152128"/>
              <a:gd name="connsiteY5" fmla="*/ 539762 h 1079524"/>
              <a:gd name="connsiteX0" fmla="*/ 0 w 1538090"/>
              <a:gd name="connsiteY0" fmla="*/ 871576 h 1411338"/>
              <a:gd name="connsiteX1" fmla="*/ 576064 w 1538090"/>
              <a:gd name="connsiteY1" fmla="*/ 331814 h 1411338"/>
              <a:gd name="connsiteX2" fmla="*/ 1538090 w 1538090"/>
              <a:gd name="connsiteY2" fmla="*/ 0 h 1411338"/>
              <a:gd name="connsiteX3" fmla="*/ 1152128 w 1538090"/>
              <a:gd name="connsiteY3" fmla="*/ 871576 h 1411338"/>
              <a:gd name="connsiteX4" fmla="*/ 576064 w 1538090"/>
              <a:gd name="connsiteY4" fmla="*/ 1411338 h 1411338"/>
              <a:gd name="connsiteX5" fmla="*/ 0 w 1538090"/>
              <a:gd name="connsiteY5" fmla="*/ 871576 h 1411338"/>
              <a:gd name="connsiteX0" fmla="*/ 0 w 1538090"/>
              <a:gd name="connsiteY0" fmla="*/ 871576 h 1411338"/>
              <a:gd name="connsiteX1" fmla="*/ 576064 w 1538090"/>
              <a:gd name="connsiteY1" fmla="*/ 331814 h 1411338"/>
              <a:gd name="connsiteX2" fmla="*/ 1538090 w 1538090"/>
              <a:gd name="connsiteY2" fmla="*/ 0 h 1411338"/>
              <a:gd name="connsiteX3" fmla="*/ 1152128 w 1538090"/>
              <a:gd name="connsiteY3" fmla="*/ 871576 h 1411338"/>
              <a:gd name="connsiteX4" fmla="*/ 576064 w 1538090"/>
              <a:gd name="connsiteY4" fmla="*/ 1411338 h 1411338"/>
              <a:gd name="connsiteX5" fmla="*/ 0 w 1538090"/>
              <a:gd name="connsiteY5" fmla="*/ 871576 h 1411338"/>
              <a:gd name="connsiteX0" fmla="*/ 0 w 1538090"/>
              <a:gd name="connsiteY0" fmla="*/ 871576 h 1411338"/>
              <a:gd name="connsiteX1" fmla="*/ 576064 w 1538090"/>
              <a:gd name="connsiteY1" fmla="*/ 331814 h 1411338"/>
              <a:gd name="connsiteX2" fmla="*/ 1538090 w 1538090"/>
              <a:gd name="connsiteY2" fmla="*/ 0 h 1411338"/>
              <a:gd name="connsiteX3" fmla="*/ 1152128 w 1538090"/>
              <a:gd name="connsiteY3" fmla="*/ 871576 h 1411338"/>
              <a:gd name="connsiteX4" fmla="*/ 576064 w 1538090"/>
              <a:gd name="connsiteY4" fmla="*/ 1411338 h 1411338"/>
              <a:gd name="connsiteX5" fmla="*/ 0 w 1538090"/>
              <a:gd name="connsiteY5" fmla="*/ 871576 h 1411338"/>
              <a:gd name="connsiteX0" fmla="*/ 0 w 1538090"/>
              <a:gd name="connsiteY0" fmla="*/ 871576 h 1411338"/>
              <a:gd name="connsiteX1" fmla="*/ 576064 w 1538090"/>
              <a:gd name="connsiteY1" fmla="*/ 331814 h 1411338"/>
              <a:gd name="connsiteX2" fmla="*/ 1538090 w 1538090"/>
              <a:gd name="connsiteY2" fmla="*/ 0 h 1411338"/>
              <a:gd name="connsiteX3" fmla="*/ 1152128 w 1538090"/>
              <a:gd name="connsiteY3" fmla="*/ 871576 h 1411338"/>
              <a:gd name="connsiteX4" fmla="*/ 576064 w 1538090"/>
              <a:gd name="connsiteY4" fmla="*/ 1411338 h 1411338"/>
              <a:gd name="connsiteX5" fmla="*/ 0 w 1538090"/>
              <a:gd name="connsiteY5" fmla="*/ 871576 h 1411338"/>
              <a:gd name="connsiteX0" fmla="*/ 0 w 1538090"/>
              <a:gd name="connsiteY0" fmla="*/ 871576 h 1411338"/>
              <a:gd name="connsiteX1" fmla="*/ 576064 w 1538090"/>
              <a:gd name="connsiteY1" fmla="*/ 331814 h 1411338"/>
              <a:gd name="connsiteX2" fmla="*/ 1538090 w 1538090"/>
              <a:gd name="connsiteY2" fmla="*/ 0 h 1411338"/>
              <a:gd name="connsiteX3" fmla="*/ 1152128 w 1538090"/>
              <a:gd name="connsiteY3" fmla="*/ 871576 h 1411338"/>
              <a:gd name="connsiteX4" fmla="*/ 576064 w 1538090"/>
              <a:gd name="connsiteY4" fmla="*/ 1411338 h 1411338"/>
              <a:gd name="connsiteX5" fmla="*/ 0 w 1538090"/>
              <a:gd name="connsiteY5" fmla="*/ 871576 h 1411338"/>
              <a:gd name="connsiteX0" fmla="*/ 0 w 1538090"/>
              <a:gd name="connsiteY0" fmla="*/ 871576 h 1411338"/>
              <a:gd name="connsiteX1" fmla="*/ 576064 w 1538090"/>
              <a:gd name="connsiteY1" fmla="*/ 331814 h 1411338"/>
              <a:gd name="connsiteX2" fmla="*/ 1538090 w 1538090"/>
              <a:gd name="connsiteY2" fmla="*/ 0 h 1411338"/>
              <a:gd name="connsiteX3" fmla="*/ 1152128 w 1538090"/>
              <a:gd name="connsiteY3" fmla="*/ 871576 h 1411338"/>
              <a:gd name="connsiteX4" fmla="*/ 576064 w 1538090"/>
              <a:gd name="connsiteY4" fmla="*/ 1411338 h 1411338"/>
              <a:gd name="connsiteX5" fmla="*/ 0 w 1538090"/>
              <a:gd name="connsiteY5" fmla="*/ 871576 h 1411338"/>
              <a:gd name="connsiteX0" fmla="*/ 0 w 1538090"/>
              <a:gd name="connsiteY0" fmla="*/ 871576 h 1411338"/>
              <a:gd name="connsiteX1" fmla="*/ 576064 w 1538090"/>
              <a:gd name="connsiteY1" fmla="*/ 331814 h 1411338"/>
              <a:gd name="connsiteX2" fmla="*/ 1538090 w 1538090"/>
              <a:gd name="connsiteY2" fmla="*/ 0 h 1411338"/>
              <a:gd name="connsiteX3" fmla="*/ 1152128 w 1538090"/>
              <a:gd name="connsiteY3" fmla="*/ 871576 h 1411338"/>
              <a:gd name="connsiteX4" fmla="*/ 576064 w 1538090"/>
              <a:gd name="connsiteY4" fmla="*/ 1411338 h 1411338"/>
              <a:gd name="connsiteX5" fmla="*/ 0 w 1538090"/>
              <a:gd name="connsiteY5" fmla="*/ 871576 h 1411338"/>
              <a:gd name="connsiteX0" fmla="*/ 0 w 1538090"/>
              <a:gd name="connsiteY0" fmla="*/ 871576 h 1411338"/>
              <a:gd name="connsiteX1" fmla="*/ 576064 w 1538090"/>
              <a:gd name="connsiteY1" fmla="*/ 331814 h 1411338"/>
              <a:gd name="connsiteX2" fmla="*/ 1538090 w 1538090"/>
              <a:gd name="connsiteY2" fmla="*/ 0 h 1411338"/>
              <a:gd name="connsiteX3" fmla="*/ 1152128 w 1538090"/>
              <a:gd name="connsiteY3" fmla="*/ 871576 h 1411338"/>
              <a:gd name="connsiteX4" fmla="*/ 576064 w 1538090"/>
              <a:gd name="connsiteY4" fmla="*/ 1411338 h 1411338"/>
              <a:gd name="connsiteX5" fmla="*/ 0 w 1538090"/>
              <a:gd name="connsiteY5" fmla="*/ 871576 h 1411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8090" h="1411338">
                <a:moveTo>
                  <a:pt x="0" y="871576"/>
                </a:moveTo>
                <a:cubicBezTo>
                  <a:pt x="0" y="573474"/>
                  <a:pt x="220434" y="432940"/>
                  <a:pt x="576064" y="331814"/>
                </a:cubicBezTo>
                <a:cubicBezTo>
                  <a:pt x="845398" y="255227"/>
                  <a:pt x="1283296" y="202159"/>
                  <a:pt x="1538090" y="0"/>
                </a:cubicBezTo>
                <a:cubicBezTo>
                  <a:pt x="1393494" y="247663"/>
                  <a:pt x="1275953" y="438176"/>
                  <a:pt x="1152128" y="871576"/>
                </a:cubicBezTo>
                <a:cubicBezTo>
                  <a:pt x="1066403" y="1191903"/>
                  <a:pt x="894215" y="1411338"/>
                  <a:pt x="576064" y="1411338"/>
                </a:cubicBezTo>
                <a:cubicBezTo>
                  <a:pt x="257913" y="1411338"/>
                  <a:pt x="0" y="1169678"/>
                  <a:pt x="0" y="871576"/>
                </a:cubicBezTo>
                <a:close/>
              </a:path>
            </a:pathLst>
          </a:cu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 flipH="1">
            <a:off x="3070675" y="4041366"/>
            <a:ext cx="216024" cy="2154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" name="Полилиния 3"/>
          <p:cNvSpPr/>
          <p:nvPr/>
        </p:nvSpPr>
        <p:spPr>
          <a:xfrm>
            <a:off x="3236801" y="2365084"/>
            <a:ext cx="2021306" cy="1734048"/>
          </a:xfrm>
          <a:custGeom>
            <a:avLst/>
            <a:gdLst>
              <a:gd name="connsiteX0" fmla="*/ 0 w 1373981"/>
              <a:gd name="connsiteY0" fmla="*/ 1178719 h 1178719"/>
              <a:gd name="connsiteX1" fmla="*/ 309563 w 1373981"/>
              <a:gd name="connsiteY1" fmla="*/ 845344 h 1178719"/>
              <a:gd name="connsiteX2" fmla="*/ 704850 w 1373981"/>
              <a:gd name="connsiteY2" fmla="*/ 600075 h 1178719"/>
              <a:gd name="connsiteX3" fmla="*/ 1028700 w 1373981"/>
              <a:gd name="connsiteY3" fmla="*/ 359569 h 1178719"/>
              <a:gd name="connsiteX4" fmla="*/ 1373981 w 1373981"/>
              <a:gd name="connsiteY4" fmla="*/ 0 h 1178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3981" h="1178719">
                <a:moveTo>
                  <a:pt x="0" y="1178719"/>
                </a:moveTo>
                <a:cubicBezTo>
                  <a:pt x="96044" y="1060252"/>
                  <a:pt x="192088" y="941785"/>
                  <a:pt x="309563" y="845344"/>
                </a:cubicBezTo>
                <a:cubicBezTo>
                  <a:pt x="427038" y="748903"/>
                  <a:pt x="584994" y="681037"/>
                  <a:pt x="704850" y="600075"/>
                </a:cubicBezTo>
                <a:cubicBezTo>
                  <a:pt x="824706" y="519112"/>
                  <a:pt x="917178" y="459581"/>
                  <a:pt x="1028700" y="359569"/>
                </a:cubicBezTo>
                <a:cubicBezTo>
                  <a:pt x="1140222" y="259557"/>
                  <a:pt x="1257101" y="129778"/>
                  <a:pt x="1373981" y="0"/>
                </a:cubicBezTo>
              </a:path>
            </a:pathLst>
          </a:cu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566238" y="3087259"/>
            <a:ext cx="898958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 smtClean="0">
                <a:latin typeface="Bahnschrift Condensed" pitchFamily="34" charset="0"/>
              </a:rPr>
              <a:t>Eco</a:t>
            </a:r>
            <a:br>
              <a:rPr lang="en-US" sz="2800" dirty="0" smtClean="0">
                <a:latin typeface="Bahnschrift Condensed" pitchFamily="34" charset="0"/>
              </a:rPr>
            </a:br>
            <a:r>
              <a:rPr lang="en-US" sz="2800" dirty="0" smtClean="0">
                <a:latin typeface="Bahnschrift Condensed" pitchFamily="34" charset="0"/>
              </a:rPr>
              <a:t>Track</a:t>
            </a:r>
            <a:endParaRPr lang="ru-RU" sz="2800" dirty="0">
              <a:latin typeface="Bahnschrift Condense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0825" y="1268760"/>
            <a:ext cx="3377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 smtClean="0"/>
              <a:t>Эскиз</a:t>
            </a:r>
            <a:r>
              <a:rPr lang="en-US" sz="4000" dirty="0" smtClean="0"/>
              <a:t>/</a:t>
            </a:r>
            <a:r>
              <a:rPr lang="ru-RU" sz="4000" dirty="0" smtClean="0"/>
              <a:t>Логотип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95983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825" y="549275"/>
            <a:ext cx="3561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 smtClean="0"/>
              <a:t>Диаграмма </a:t>
            </a:r>
            <a:r>
              <a:rPr lang="ru-RU" sz="3600" dirty="0" err="1" smtClean="0"/>
              <a:t>Ганта</a:t>
            </a:r>
            <a:endParaRPr lang="ru-RU" sz="3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0825" y="1988840"/>
            <a:ext cx="8642350" cy="3600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413805" y="3116964"/>
            <a:ext cx="718035" cy="27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683618" y="2702821"/>
            <a:ext cx="730187" cy="2830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575369" y="20663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2</a:t>
            </a:r>
            <a:endParaRPr lang="ru-RU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3302937" y="20663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</a:t>
            </a:r>
            <a:endParaRPr lang="ru-R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4030505" y="20663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4</a:t>
            </a:r>
            <a:endParaRPr lang="ru-R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4758073" y="20663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5</a:t>
            </a:r>
            <a:endParaRPr lang="ru-R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5485641" y="20663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6</a:t>
            </a:r>
            <a:endParaRPr lang="ru-R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6213209" y="20663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7</a:t>
            </a:r>
            <a:endParaRPr lang="ru-RU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6940777" y="20663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8</a:t>
            </a:r>
            <a:endParaRPr lang="ru-RU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847801" y="20663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1</a:t>
            </a:r>
            <a:endParaRPr lang="ru-RU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271488" y="2708920"/>
            <a:ext cx="1468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smtClean="0"/>
              <a:t>Анализ требований</a:t>
            </a:r>
            <a:endParaRPr lang="ru-RU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271488" y="3063345"/>
            <a:ext cx="1472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Проектирование архитектуры</a:t>
            </a:r>
            <a:endParaRPr lang="ru-RU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271488" y="3525010"/>
            <a:ext cx="1484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Backend </a:t>
            </a:r>
            <a:r>
              <a:rPr lang="ru-RU" sz="1200" dirty="0" smtClean="0"/>
              <a:t>разработка</a:t>
            </a:r>
            <a:endParaRPr lang="ru-RU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271489" y="3875489"/>
            <a:ext cx="1412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Мобильный интерфейс</a:t>
            </a:r>
            <a:endParaRPr lang="ru-R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250825" y="4287480"/>
            <a:ext cx="1412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Интеграция компонентов</a:t>
            </a:r>
            <a:endParaRPr lang="ru-RU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271488" y="4749145"/>
            <a:ext cx="1082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smtClean="0"/>
              <a:t>Тестирование</a:t>
            </a:r>
            <a:endParaRPr lang="ru-RU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271488" y="5157192"/>
            <a:ext cx="656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smtClean="0"/>
              <a:t>Выпуск</a:t>
            </a:r>
            <a:endParaRPr lang="ru-RU" sz="1200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5285945" y="4341099"/>
            <a:ext cx="718036" cy="27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6003981" y="4749145"/>
            <a:ext cx="718034" cy="27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6722016" y="5157191"/>
            <a:ext cx="718034" cy="27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1683618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2413805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3131840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3849875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4567910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131841" y="3525010"/>
            <a:ext cx="1436070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5285945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3862028" y="3933054"/>
            <a:ext cx="1423917" cy="27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>
            <a:off x="6003980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6722015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>
            <a:off x="7440050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8158085" y="1988840"/>
            <a:ext cx="0" cy="3600400"/>
          </a:xfrm>
          <a:prstGeom prst="line">
            <a:avLst/>
          </a:prstGeom>
          <a:ln>
            <a:solidFill>
              <a:srgbClr val="75A16B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26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124</Words>
  <Application>Microsoft Office PowerPoint</Application>
  <PresentationFormat>Экран (4:3)</PresentationFormat>
  <Paragraphs>37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as21</dc:creator>
  <cp:lastModifiedBy>as21</cp:lastModifiedBy>
  <cp:revision>5</cp:revision>
  <dcterms:created xsi:type="dcterms:W3CDTF">2025-11-05T06:08:21Z</dcterms:created>
  <dcterms:modified xsi:type="dcterms:W3CDTF">2025-11-05T07:02:07Z</dcterms:modified>
</cp:coreProperties>
</file>